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79" autoAdjust="0"/>
    <p:restoredTop sz="94664"/>
  </p:normalViewPr>
  <p:slideViewPr>
    <p:cSldViewPr snapToGrid="0">
      <p:cViewPr varScale="1">
        <p:scale>
          <a:sx n="150" d="100"/>
          <a:sy n="150" d="100"/>
        </p:scale>
        <p:origin x="17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55201-0029-7C46-42DA-D55BDEA9C1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912271-FD61-7D6D-14D5-A473C7236D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9E72EB-A8A8-96AF-0DDC-0B415A4A83D3}"/>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5" name="Footer Placeholder 4">
            <a:extLst>
              <a:ext uri="{FF2B5EF4-FFF2-40B4-BE49-F238E27FC236}">
                <a16:creationId xmlns:a16="http://schemas.microsoft.com/office/drawing/2014/main" id="{139D8A97-5A20-D953-BA19-84BA387D2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552343-B518-DC6C-566C-9767A728BA02}"/>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213597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FA856-B127-5C8F-7E28-1B35767826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2BFA78-3D3A-B9BF-B144-825D5FBB8F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C4DCC1-E628-9C6E-D491-F73AE7818830}"/>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5" name="Footer Placeholder 4">
            <a:extLst>
              <a:ext uri="{FF2B5EF4-FFF2-40B4-BE49-F238E27FC236}">
                <a16:creationId xmlns:a16="http://schemas.microsoft.com/office/drawing/2014/main" id="{11450C25-AD98-6592-2518-43D426BD20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949C4-57AB-45A2-5019-D6C53AF97214}"/>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1483670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9111-3B4D-4ACF-C80F-228BD3AB1B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43543C-B573-CF00-0E0D-97159333CB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E61F92-E39A-31FB-FA3D-CB0649AD0E78}"/>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5" name="Footer Placeholder 4">
            <a:extLst>
              <a:ext uri="{FF2B5EF4-FFF2-40B4-BE49-F238E27FC236}">
                <a16:creationId xmlns:a16="http://schemas.microsoft.com/office/drawing/2014/main" id="{803F9130-69D4-0887-D704-E8F81105B7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00875E-8E12-CD7C-D670-878EA049FF3A}"/>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687968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E062E-524F-B324-9506-64C444CF2D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D3458E-82BF-80FC-4E54-A3DA1DAD73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5F03E5-9DFA-E5ED-50AB-21EC4DC2F1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083A9C-5DFD-F054-E6DB-319A95571591}"/>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6" name="Footer Placeholder 5">
            <a:extLst>
              <a:ext uri="{FF2B5EF4-FFF2-40B4-BE49-F238E27FC236}">
                <a16:creationId xmlns:a16="http://schemas.microsoft.com/office/drawing/2014/main" id="{09C1045E-FE51-125E-F93F-693FE877AC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46397C-7B5C-91D7-9FAF-CC4C1D1538B0}"/>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1122189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63DB3-6E81-4810-35BA-ECF0D95517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742902-B9B6-DA81-B4E3-7788DCD1AD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3D752A-DC30-2759-1C27-8FA8E32394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70A347-F5BF-72FB-0997-F77D7E2E2E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CADACD-11D5-1B5C-D014-D919F91B1B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A98A85-7487-61DD-4B4C-91A3C53996FE}"/>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8" name="Footer Placeholder 7">
            <a:extLst>
              <a:ext uri="{FF2B5EF4-FFF2-40B4-BE49-F238E27FC236}">
                <a16:creationId xmlns:a16="http://schemas.microsoft.com/office/drawing/2014/main" id="{206B4083-C4B5-24C4-F847-F3A436A0EF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1ABE19-191D-020E-22EC-2C498AAD992B}"/>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2118052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20B2E-6A6D-CABE-8DFE-04B266CAEF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2A064D-8626-19FB-5807-C744F949ADF0}"/>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4" name="Footer Placeholder 3">
            <a:extLst>
              <a:ext uri="{FF2B5EF4-FFF2-40B4-BE49-F238E27FC236}">
                <a16:creationId xmlns:a16="http://schemas.microsoft.com/office/drawing/2014/main" id="{8D0EFB71-0C72-5CC4-76FE-6BB4F60D02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55F605-8BC0-73A3-F124-17CC0667FE75}"/>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2394837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615F5F-90A4-F5B7-2988-3D93544F1A27}"/>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3" name="Footer Placeholder 2">
            <a:extLst>
              <a:ext uri="{FF2B5EF4-FFF2-40B4-BE49-F238E27FC236}">
                <a16:creationId xmlns:a16="http://schemas.microsoft.com/office/drawing/2014/main" id="{9BAA09D0-CAAB-737C-B8F5-3D6E0D23CD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629C08-1F0D-6CE1-CD5D-09DAAEE91E30}"/>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2388269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43C77-5374-B36C-35D8-7BB678435A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02104B-8CC5-63A0-2B6C-7FD7CC3D77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924D00C-9DD8-0807-23A5-D9873F902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40DC9A-7513-8B6B-2516-438AA71A7876}"/>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6" name="Footer Placeholder 5">
            <a:extLst>
              <a:ext uri="{FF2B5EF4-FFF2-40B4-BE49-F238E27FC236}">
                <a16:creationId xmlns:a16="http://schemas.microsoft.com/office/drawing/2014/main" id="{D8C6DDA1-9943-70DF-891C-DB3A5BAE0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9848B3-8035-B83F-D58B-4DF901247338}"/>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3784341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87D1-A9D1-EA8A-05FB-12F26E20D2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FB7DBE-765C-267E-4AEE-AAE88BAF6F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9BD3B-926C-2A5C-D057-F6BE1E2E1E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B79E2D-ABFC-8967-FEBF-C5C52CC420E2}"/>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6" name="Footer Placeholder 5">
            <a:extLst>
              <a:ext uri="{FF2B5EF4-FFF2-40B4-BE49-F238E27FC236}">
                <a16:creationId xmlns:a16="http://schemas.microsoft.com/office/drawing/2014/main" id="{43CB1065-1AAE-A965-8EFB-E9CD9C86D8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6F8E2-2495-6209-0984-224948C51503}"/>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3416731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7576-12BA-F17E-D1C3-0B3A481114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0F19A1-3522-36CE-C9AF-AB742C394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B9801F-5E50-CA7F-6AD5-968F80D57974}"/>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5" name="Footer Placeholder 4">
            <a:extLst>
              <a:ext uri="{FF2B5EF4-FFF2-40B4-BE49-F238E27FC236}">
                <a16:creationId xmlns:a16="http://schemas.microsoft.com/office/drawing/2014/main" id="{7E07A305-2A5B-AFDA-E8EF-1F6C9B55F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159880-3DF8-49BC-C602-6D3610DE1F31}"/>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2368027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033D9C-A958-BB98-491C-41660CCF18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F021B5-E5E9-73A5-E3F2-DEE6078AC2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FF160F-C743-5411-8340-A7FE8D14AC9B}"/>
              </a:ext>
            </a:extLst>
          </p:cNvPr>
          <p:cNvSpPr>
            <a:spLocks noGrp="1"/>
          </p:cNvSpPr>
          <p:nvPr>
            <p:ph type="dt" sz="half" idx="10"/>
          </p:nvPr>
        </p:nvSpPr>
        <p:spPr/>
        <p:txBody>
          <a:bodyPr/>
          <a:lstStyle/>
          <a:p>
            <a:fld id="{37492A34-277C-4963-8D52-281AF20D22C4}" type="datetimeFigureOut">
              <a:rPr lang="en-US" smtClean="0"/>
              <a:t>2/27/25</a:t>
            </a:fld>
            <a:endParaRPr lang="en-US"/>
          </a:p>
        </p:txBody>
      </p:sp>
      <p:sp>
        <p:nvSpPr>
          <p:cNvPr id="5" name="Footer Placeholder 4">
            <a:extLst>
              <a:ext uri="{FF2B5EF4-FFF2-40B4-BE49-F238E27FC236}">
                <a16:creationId xmlns:a16="http://schemas.microsoft.com/office/drawing/2014/main" id="{9DED585F-AF8C-1DEE-171E-2703ABBD40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DEE8CB-B427-05D9-FF13-18E0F918F72B}"/>
              </a:ext>
            </a:extLst>
          </p:cNvPr>
          <p:cNvSpPr>
            <a:spLocks noGrp="1"/>
          </p:cNvSpPr>
          <p:nvPr>
            <p:ph type="sldNum" sz="quarter" idx="12"/>
          </p:nvPr>
        </p:nvSpPr>
        <p:spPr/>
        <p:txBody>
          <a:bodyPr/>
          <a:lstStyle/>
          <a:p>
            <a:fld id="{D90A85A5-2807-424D-BA5E-898C48585C03}" type="slidenum">
              <a:rPr lang="en-US" smtClean="0"/>
              <a:t>‹#›</a:t>
            </a:fld>
            <a:endParaRPr lang="en-US"/>
          </a:p>
        </p:txBody>
      </p:sp>
    </p:spTree>
    <p:extLst>
      <p:ext uri="{BB962C8B-B14F-4D97-AF65-F5344CB8AC3E}">
        <p14:creationId xmlns:p14="http://schemas.microsoft.com/office/powerpoint/2010/main" val="374982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C4E96-D7E3-0356-D30F-2B5447CAE8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AEF27E-70FC-0111-D5D7-B70BC07C49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568718-CA11-5358-A344-72610ACBA8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492A34-277C-4963-8D52-281AF20D22C4}" type="datetimeFigureOut">
              <a:rPr lang="en-US" smtClean="0"/>
              <a:t>2/27/25</a:t>
            </a:fld>
            <a:endParaRPr lang="en-US"/>
          </a:p>
        </p:txBody>
      </p:sp>
      <p:sp>
        <p:nvSpPr>
          <p:cNvPr id="5" name="Footer Placeholder 4">
            <a:extLst>
              <a:ext uri="{FF2B5EF4-FFF2-40B4-BE49-F238E27FC236}">
                <a16:creationId xmlns:a16="http://schemas.microsoft.com/office/drawing/2014/main" id="{30BA6215-6C99-DFF9-2976-2946F710F7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830BF7-E285-E0F3-476D-4D22255E3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0A85A5-2807-424D-BA5E-898C48585C03}" type="slidenum">
              <a:rPr lang="en-US" smtClean="0"/>
              <a:t>‹#›</a:t>
            </a:fld>
            <a:endParaRPr lang="en-US"/>
          </a:p>
        </p:txBody>
      </p:sp>
    </p:spTree>
    <p:extLst>
      <p:ext uri="{BB962C8B-B14F-4D97-AF65-F5344CB8AC3E}">
        <p14:creationId xmlns:p14="http://schemas.microsoft.com/office/powerpoint/2010/main" val="2844268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gital image of a world map and a bitcoin coin&#10;&#10;AI-generated content may be incorrect.">
            <a:extLst>
              <a:ext uri="{FF2B5EF4-FFF2-40B4-BE49-F238E27FC236}">
                <a16:creationId xmlns:a16="http://schemas.microsoft.com/office/drawing/2014/main" id="{4C384E64-B7DC-095B-7E56-D7EE9CA0E3B1}"/>
              </a:ext>
            </a:extLst>
          </p:cNvPr>
          <p:cNvPicPr>
            <a:picLocks noChangeAspect="1"/>
          </p:cNvPicPr>
          <p:nvPr/>
        </p:nvPicPr>
        <p:blipFill>
          <a:blip r:embed="rId2">
            <a:alphaModFix amt="23000"/>
            <a:extLst>
              <a:ext uri="{28A0092B-C50C-407E-A947-70E740481C1C}">
                <a14:useLocalDpi xmlns:a14="http://schemas.microsoft.com/office/drawing/2010/main" val="0"/>
              </a:ext>
            </a:extLst>
          </a:blip>
          <a:stretch>
            <a:fillRect/>
          </a:stretch>
        </p:blipFill>
        <p:spPr>
          <a:xfrm>
            <a:off x="95250" y="0"/>
            <a:ext cx="12001500" cy="6858000"/>
          </a:xfrm>
          <a:prstGeom prst="rect">
            <a:avLst/>
          </a:prstGeom>
          <a:effectLst>
            <a:reflection stA="48000" endPos="65000" dist="50800" dir="5400000" sy="-100000" algn="bl" rotWithShape="0"/>
          </a:effectLst>
        </p:spPr>
      </p:pic>
      <p:sp>
        <p:nvSpPr>
          <p:cNvPr id="6" name="Rectangle 5">
            <a:extLst>
              <a:ext uri="{FF2B5EF4-FFF2-40B4-BE49-F238E27FC236}">
                <a16:creationId xmlns:a16="http://schemas.microsoft.com/office/drawing/2014/main" id="{39186FA7-CC36-3177-F9C6-C1003CD594B4}"/>
              </a:ext>
            </a:extLst>
          </p:cNvPr>
          <p:cNvSpPr/>
          <p:nvPr/>
        </p:nvSpPr>
        <p:spPr>
          <a:xfrm>
            <a:off x="260287" y="1713998"/>
            <a:ext cx="11698459" cy="954107"/>
          </a:xfrm>
          <a:prstGeom prst="rect">
            <a:avLst/>
          </a:prstGeom>
          <a:noFill/>
        </p:spPr>
        <p:txBody>
          <a:bodyPr wrap="none" lIns="91440" tIns="45720" rIns="91440" bIns="45720">
            <a:spAutoFit/>
          </a:bodyPr>
          <a:lstStyle/>
          <a:p>
            <a:pPr algn="ctr"/>
            <a:r>
              <a:rPr lang="en-US" sz="2800" dirty="0">
                <a:latin typeface="Amasis MT Pro Black" panose="02040A04050005020304" pitchFamily="18" charset="0"/>
              </a:rPr>
              <a:t>Crypto </a:t>
            </a:r>
            <a:r>
              <a:rPr lang="en-US" sz="2800" dirty="0" err="1">
                <a:latin typeface="Amasis MT Pro Black" panose="02040A04050005020304" pitchFamily="18" charset="0"/>
              </a:rPr>
              <a:t>AnAyltics</a:t>
            </a:r>
            <a:r>
              <a:rPr lang="en-US" sz="2800" dirty="0">
                <a:latin typeface="Amasis MT Pro Black" panose="02040A04050005020304" pitchFamily="18" charset="0"/>
              </a:rPr>
              <a:t>: Cryptocurrency Market Correlation Analysis</a:t>
            </a:r>
            <a:br>
              <a:rPr lang="en-US" sz="2800" dirty="0">
                <a:solidFill>
                  <a:schemeClr val="bg1"/>
                </a:solidFill>
                <a:latin typeface="Amasis MT Pro Black" panose="02040A04050005020304" pitchFamily="18" charset="0"/>
              </a:rPr>
            </a:br>
            <a:endParaRPr lang="en-US" sz="2800" b="1" cap="none" spc="50" dirty="0">
              <a:ln w="0"/>
              <a:solidFill>
                <a:schemeClr val="bg1"/>
              </a:solidFill>
              <a:effectLst>
                <a:innerShdw blurRad="63500" dist="50800" dir="13500000">
                  <a:srgbClr val="000000">
                    <a:alpha val="50000"/>
                  </a:srgbClr>
                </a:innerShdw>
              </a:effectLst>
              <a:latin typeface="Amasis MT Pro Black" panose="02040A04050005020304" pitchFamily="18" charset="0"/>
            </a:endParaRPr>
          </a:p>
        </p:txBody>
      </p:sp>
      <p:sp>
        <p:nvSpPr>
          <p:cNvPr id="8" name="TextBox 7">
            <a:extLst>
              <a:ext uri="{FF2B5EF4-FFF2-40B4-BE49-F238E27FC236}">
                <a16:creationId xmlns:a16="http://schemas.microsoft.com/office/drawing/2014/main" id="{53A8B627-8318-0112-9372-CB3BBDC9A8B7}"/>
              </a:ext>
            </a:extLst>
          </p:cNvPr>
          <p:cNvSpPr txBox="1"/>
          <p:nvPr/>
        </p:nvSpPr>
        <p:spPr>
          <a:xfrm>
            <a:off x="260287" y="5336210"/>
            <a:ext cx="10468069" cy="1323439"/>
          </a:xfrm>
          <a:prstGeom prst="rect">
            <a:avLst/>
          </a:prstGeom>
          <a:noFill/>
        </p:spPr>
        <p:txBody>
          <a:bodyPr wrap="square">
            <a:spAutoFit/>
          </a:bodyPr>
          <a:lstStyle/>
          <a:p>
            <a:r>
              <a:rPr lang="en-US" sz="2000" b="1" dirty="0">
                <a:latin typeface="Amasis MT Pro Medium" panose="02040604050005020304" pitchFamily="18" charset="0"/>
              </a:rPr>
              <a:t>Subtitle:</a:t>
            </a:r>
            <a:r>
              <a:rPr lang="en-US" sz="2000" dirty="0">
                <a:latin typeface="Amasis MT Pro Medium" panose="02040604050005020304" pitchFamily="18" charset="0"/>
              </a:rPr>
              <a:t> Understanding Bitcoin’s Influence on Altcoins</a:t>
            </a:r>
            <a:br>
              <a:rPr lang="en-US" sz="2000" dirty="0">
                <a:latin typeface="Amasis MT Pro Medium" panose="02040604050005020304" pitchFamily="18" charset="0"/>
              </a:rPr>
            </a:br>
            <a:r>
              <a:rPr lang="en-US" sz="2000" b="1" dirty="0">
                <a:latin typeface="Amasis MT Pro Medium" panose="02040604050005020304" pitchFamily="18" charset="0"/>
              </a:rPr>
              <a:t>Presented by:</a:t>
            </a:r>
            <a:r>
              <a:rPr lang="en-US" sz="2000" dirty="0">
                <a:latin typeface="Amasis MT Pro Medium" panose="02040604050005020304" pitchFamily="18" charset="0"/>
              </a:rPr>
              <a:t> </a:t>
            </a:r>
            <a:r>
              <a:rPr lang="en-US" sz="2000" dirty="0" err="1">
                <a:latin typeface="Amasis MT Pro Medium" panose="02040604050005020304" pitchFamily="18" charset="0"/>
              </a:rPr>
              <a:t>Ayberk</a:t>
            </a:r>
            <a:r>
              <a:rPr lang="en-US" sz="2000" dirty="0">
                <a:latin typeface="Amasis MT Pro Medium" panose="02040604050005020304" pitchFamily="18" charset="0"/>
              </a:rPr>
              <a:t> </a:t>
            </a:r>
            <a:r>
              <a:rPr lang="en-US" sz="2000" dirty="0" err="1">
                <a:latin typeface="Amasis MT Pro Medium" panose="02040604050005020304" pitchFamily="18" charset="0"/>
              </a:rPr>
              <a:t>Cansever</a:t>
            </a:r>
            <a:r>
              <a:rPr lang="en-US" sz="2000" dirty="0">
                <a:latin typeface="Amasis MT Pro Medium" panose="02040604050005020304" pitchFamily="18" charset="0"/>
              </a:rPr>
              <a:t> &amp; Anita Bhandari</a:t>
            </a:r>
            <a:br>
              <a:rPr lang="en-US" sz="2000" dirty="0">
                <a:latin typeface="Amasis MT Pro Medium" panose="02040604050005020304" pitchFamily="18" charset="0"/>
              </a:rPr>
            </a:br>
            <a:r>
              <a:rPr lang="en-US" sz="2000" b="1" dirty="0">
                <a:latin typeface="Amasis MT Pro Medium" panose="02040604050005020304" pitchFamily="18" charset="0"/>
              </a:rPr>
              <a:t>Course:</a:t>
            </a:r>
            <a:r>
              <a:rPr lang="en-US" sz="2000" dirty="0">
                <a:latin typeface="Amasis MT Pro Medium" panose="02040604050005020304" pitchFamily="18" charset="0"/>
              </a:rPr>
              <a:t> CSCI/DASC 6010: Big Data Analytics and Management , Spring 2025</a:t>
            </a:r>
            <a:br>
              <a:rPr lang="en-US" sz="2000" dirty="0">
                <a:latin typeface="Amasis MT Pro Medium" panose="02040604050005020304" pitchFamily="18" charset="0"/>
              </a:rPr>
            </a:br>
            <a:r>
              <a:rPr lang="en-US" sz="2000" b="1" dirty="0">
                <a:latin typeface="Amasis MT Pro Medium" panose="02040604050005020304" pitchFamily="18" charset="0"/>
              </a:rPr>
              <a:t>Date:</a:t>
            </a:r>
            <a:r>
              <a:rPr lang="en-US" sz="2000" dirty="0">
                <a:latin typeface="Amasis MT Pro Medium" panose="02040604050005020304" pitchFamily="18" charset="0"/>
              </a:rPr>
              <a:t> 3/2/2025</a:t>
            </a:r>
          </a:p>
        </p:txBody>
      </p:sp>
    </p:spTree>
    <p:extLst>
      <p:ext uri="{BB962C8B-B14F-4D97-AF65-F5344CB8AC3E}">
        <p14:creationId xmlns:p14="http://schemas.microsoft.com/office/powerpoint/2010/main" val="260731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884265-448E-7DDE-3163-32E197954AD9}"/>
              </a:ext>
            </a:extLst>
          </p:cNvPr>
          <p:cNvSpPr>
            <a:spLocks noGrp="1"/>
          </p:cNvSpPr>
          <p:nvPr>
            <p:ph type="title"/>
          </p:nvPr>
        </p:nvSpPr>
        <p:spPr>
          <a:xfrm>
            <a:off x="795528" y="386930"/>
            <a:ext cx="10141799" cy="1300554"/>
          </a:xfrm>
        </p:spPr>
        <p:txBody>
          <a:bodyPr vert="horz" lIns="91440" tIns="45720" rIns="91440" bIns="45720" rtlCol="0" anchor="b">
            <a:normAutofit/>
          </a:bodyPr>
          <a:lstStyle/>
          <a:p>
            <a:r>
              <a:rPr lang="en-US" sz="4100" b="1" i="0" kern="1200" dirty="0">
                <a:solidFill>
                  <a:schemeClr val="tx1"/>
                </a:solidFill>
                <a:effectLst/>
                <a:latin typeface="+mj-lt"/>
                <a:ea typeface="+mj-ea"/>
                <a:cs typeface="+mj-cs"/>
              </a:rPr>
              <a:t>Crypto </a:t>
            </a:r>
            <a:r>
              <a:rPr lang="en-US" sz="4100" b="1" i="0" kern="1200" dirty="0" err="1">
                <a:solidFill>
                  <a:schemeClr val="tx1"/>
                </a:solidFill>
                <a:effectLst/>
                <a:latin typeface="+mj-lt"/>
                <a:ea typeface="+mj-ea"/>
                <a:cs typeface="+mj-cs"/>
              </a:rPr>
              <a:t>AnAyltics</a:t>
            </a:r>
            <a:br>
              <a:rPr lang="en-US" sz="4100" b="1" i="0" kern="1200" dirty="0">
                <a:solidFill>
                  <a:schemeClr val="tx1"/>
                </a:solidFill>
                <a:effectLst/>
                <a:latin typeface="+mj-lt"/>
                <a:ea typeface="+mj-ea"/>
                <a:cs typeface="+mj-cs"/>
              </a:rPr>
            </a:br>
            <a:endParaRPr lang="en-US" sz="41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diagram&#10;&#10;AI-generated content may be incorrect.">
            <a:extLst>
              <a:ext uri="{FF2B5EF4-FFF2-40B4-BE49-F238E27FC236}">
                <a16:creationId xmlns:a16="http://schemas.microsoft.com/office/drawing/2014/main" id="{865E41A3-A3E8-F4FB-905B-DD1ACEF1B3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295" y="2579240"/>
            <a:ext cx="5150277" cy="3605193"/>
          </a:xfrm>
          <a:prstGeom prst="rect">
            <a:avLst/>
          </a:prstGeom>
        </p:spPr>
      </p:pic>
      <p:sp>
        <p:nvSpPr>
          <p:cNvPr id="4" name="TextBox 3">
            <a:extLst>
              <a:ext uri="{FF2B5EF4-FFF2-40B4-BE49-F238E27FC236}">
                <a16:creationId xmlns:a16="http://schemas.microsoft.com/office/drawing/2014/main" id="{5F6FE9E7-541B-6BC2-7D42-BC381A9ECBA6}"/>
              </a:ext>
            </a:extLst>
          </p:cNvPr>
          <p:cNvSpPr txBox="1"/>
          <p:nvPr/>
        </p:nvSpPr>
        <p:spPr>
          <a:xfrm>
            <a:off x="6406429"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0" i="1">
                <a:effectLst/>
              </a:rPr>
              <a:t>This project aims to provide actionable insights into Bitcoin’s influence on altcoin markets, helping traders develop better strategies based on historical data and statistical correlations.</a:t>
            </a:r>
            <a:endParaRPr lang="en-US" sz="2000"/>
          </a:p>
        </p:txBody>
      </p:sp>
      <p:sp>
        <p:nvSpPr>
          <p:cNvPr id="17" name="Rectangle 16">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6383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4C377F-F564-C0A1-AEF9-0EA9DAE2660D}"/>
              </a:ext>
            </a:extLst>
          </p:cNvPr>
          <p:cNvSpPr txBox="1"/>
          <p:nvPr/>
        </p:nvSpPr>
        <p:spPr>
          <a:xfrm>
            <a:off x="3048000" y="3244334"/>
            <a:ext cx="6096000" cy="369332"/>
          </a:xfrm>
          <a:prstGeom prst="rect">
            <a:avLst/>
          </a:prstGeom>
          <a:noFill/>
        </p:spPr>
        <p:txBody>
          <a:bodyPr wrap="square">
            <a:spAutoFit/>
          </a:bodyPr>
          <a:lstStyle/>
          <a:p>
            <a:pPr algn="ctr"/>
            <a:r>
              <a:rPr lang="en-US" b="1" i="0" dirty="0">
                <a:solidFill>
                  <a:srgbClr val="1F2328"/>
                </a:solidFill>
                <a:effectLst/>
                <a:latin typeface="-apple-system"/>
              </a:rPr>
              <a:t>Problem Statement</a:t>
            </a:r>
          </a:p>
        </p:txBody>
      </p:sp>
    </p:spTree>
    <p:extLst>
      <p:ext uri="{BB962C8B-B14F-4D97-AF65-F5344CB8AC3E}">
        <p14:creationId xmlns:p14="http://schemas.microsoft.com/office/powerpoint/2010/main" val="2692023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E90F92-79E5-7338-166D-DC8E655B6C4B}"/>
              </a:ext>
            </a:extLst>
          </p:cNvPr>
          <p:cNvSpPr txBox="1"/>
          <p:nvPr/>
        </p:nvSpPr>
        <p:spPr>
          <a:xfrm>
            <a:off x="450410" y="273588"/>
            <a:ext cx="10386587" cy="1754326"/>
          </a:xfrm>
          <a:prstGeom prst="rect">
            <a:avLst/>
          </a:prstGeom>
          <a:noFill/>
        </p:spPr>
        <p:txBody>
          <a:bodyPr wrap="square">
            <a:spAutoFit/>
          </a:bodyPr>
          <a:lstStyle/>
          <a:p>
            <a:pPr algn="l"/>
            <a:r>
              <a:rPr lang="en-US" b="1" i="0" dirty="0">
                <a:solidFill>
                  <a:srgbClr val="1F2328"/>
                </a:solidFill>
                <a:effectLst/>
                <a:latin typeface="-apple-system"/>
              </a:rPr>
              <a:t>Cryptocurrency Market Volatility</a:t>
            </a:r>
          </a:p>
          <a:p>
            <a:pPr algn="l"/>
            <a:r>
              <a:rPr lang="en-US" b="0" i="0" dirty="0">
                <a:solidFill>
                  <a:srgbClr val="1F2328"/>
                </a:solidFill>
                <a:effectLst/>
                <a:latin typeface="-apple-system"/>
              </a:rPr>
              <a:t>Cryptocurrency markets are highly volatile, with prices frequently experiencing large fluctuations within short periods. While Bitcoin (BTC) is the dominant cryptocurrency, accounting for a significant portion of the total market capitalization, its price movements often influence the behavior of altcoins (alternative cryptocurrencies). This phenomenon is particularly evident during bull and bear markets, where Bitcoin's trends can dictate overall market sentiment.</a:t>
            </a:r>
          </a:p>
        </p:txBody>
      </p:sp>
      <p:pic>
        <p:nvPicPr>
          <p:cNvPr id="5" name="Picture 4" descr="A diagram of a blockchain market&#10;&#10;AI-generated content may be incorrect.">
            <a:extLst>
              <a:ext uri="{FF2B5EF4-FFF2-40B4-BE49-F238E27FC236}">
                <a16:creationId xmlns:a16="http://schemas.microsoft.com/office/drawing/2014/main" id="{B183EE6C-4106-85D2-FD73-7F668B98BF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6313" y="1876425"/>
            <a:ext cx="6135902" cy="4324350"/>
          </a:xfrm>
          <a:prstGeom prst="rect">
            <a:avLst/>
          </a:prstGeom>
        </p:spPr>
      </p:pic>
    </p:spTree>
    <p:extLst>
      <p:ext uri="{BB962C8B-B14F-4D97-AF65-F5344CB8AC3E}">
        <p14:creationId xmlns:p14="http://schemas.microsoft.com/office/powerpoint/2010/main" val="3751054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2AD182-CA7E-8852-C8BE-CC6D2F3EC605}"/>
              </a:ext>
            </a:extLst>
          </p:cNvPr>
          <p:cNvSpPr txBox="1"/>
          <p:nvPr/>
        </p:nvSpPr>
        <p:spPr>
          <a:xfrm>
            <a:off x="322906" y="129167"/>
            <a:ext cx="10894337" cy="1477328"/>
          </a:xfrm>
          <a:prstGeom prst="rect">
            <a:avLst/>
          </a:prstGeom>
          <a:noFill/>
        </p:spPr>
        <p:txBody>
          <a:bodyPr wrap="square">
            <a:spAutoFit/>
          </a:bodyPr>
          <a:lstStyle/>
          <a:p>
            <a:r>
              <a:rPr lang="en-US" b="1" dirty="0"/>
              <a:t>Bitcoin's Influence on Altcoins</a:t>
            </a:r>
          </a:p>
          <a:p>
            <a:r>
              <a:rPr lang="en-US" dirty="0"/>
              <a:t>Since Bitcoin is widely considered the "reserve currency" of the crypto market, many altcoins exhibit correlated price movements, reacting to BTC’s fluctuations in varying degrees. However, not all altcoins respond uniformly—some may move in tandem with BTC, while others exhibit more independent trends due to unique market factors such as ecosystem development, adoption, and external influences.</a:t>
            </a:r>
          </a:p>
        </p:txBody>
      </p:sp>
      <p:pic>
        <p:nvPicPr>
          <p:cNvPr id="5" name="Picture 4" descr="A diagram of a brain&#10;&#10;AI-generated content may be incorrect.">
            <a:extLst>
              <a:ext uri="{FF2B5EF4-FFF2-40B4-BE49-F238E27FC236}">
                <a16:creationId xmlns:a16="http://schemas.microsoft.com/office/drawing/2014/main" id="{1BCF3739-6109-C112-D143-160B914F6F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0325" y="2024062"/>
            <a:ext cx="7219950" cy="4295775"/>
          </a:xfrm>
          <a:prstGeom prst="rect">
            <a:avLst/>
          </a:prstGeom>
        </p:spPr>
      </p:pic>
    </p:spTree>
    <p:extLst>
      <p:ext uri="{BB962C8B-B14F-4D97-AF65-F5344CB8AC3E}">
        <p14:creationId xmlns:p14="http://schemas.microsoft.com/office/powerpoint/2010/main" val="3711944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268A37-37F0-DA2D-2478-90AEFF20ADC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05C3CF-43FA-817D-EE70-D4960C54068E}"/>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300" b="1" i="0" dirty="0">
                <a:effectLst/>
              </a:rPr>
              <a:t>Importance</a:t>
            </a:r>
          </a:p>
          <a:p>
            <a:pPr indent="-228600">
              <a:lnSpc>
                <a:spcPct val="90000"/>
              </a:lnSpc>
              <a:spcAft>
                <a:spcPts val="600"/>
              </a:spcAft>
              <a:buFont typeface="Arial" panose="020B0604020202020204" pitchFamily="34" charset="0"/>
              <a:buChar char="•"/>
            </a:pPr>
            <a:r>
              <a:rPr lang="en-US" sz="1300" b="0" i="0" dirty="0">
                <a:effectLst/>
              </a:rPr>
              <a:t>Understanding the correlation between Bitcoin and altcoins is crucial for:</a:t>
            </a:r>
          </a:p>
          <a:p>
            <a:pPr indent="-228600">
              <a:lnSpc>
                <a:spcPct val="90000"/>
              </a:lnSpc>
              <a:spcAft>
                <a:spcPts val="600"/>
              </a:spcAft>
              <a:buFont typeface="Arial" panose="020B0604020202020204" pitchFamily="34" charset="0"/>
              <a:buChar char="•"/>
            </a:pPr>
            <a:r>
              <a:rPr lang="en-US" sz="1300" b="1" i="0" dirty="0">
                <a:effectLst/>
              </a:rPr>
              <a:t>Risk Management</a:t>
            </a:r>
            <a:r>
              <a:rPr lang="en-US" sz="1300" b="0" i="0" dirty="0">
                <a:effectLst/>
              </a:rPr>
              <a:t>: Traders and investors can assess how altcoins move in relation to BTC, enabling them to hedge against market risks.</a:t>
            </a:r>
          </a:p>
          <a:p>
            <a:pPr indent="-228600">
              <a:lnSpc>
                <a:spcPct val="90000"/>
              </a:lnSpc>
              <a:spcAft>
                <a:spcPts val="600"/>
              </a:spcAft>
              <a:buFont typeface="Arial" panose="020B0604020202020204" pitchFamily="34" charset="0"/>
              <a:buChar char="•"/>
            </a:pPr>
            <a:r>
              <a:rPr lang="en-US" sz="1300" b="1" i="0" dirty="0">
                <a:effectLst/>
              </a:rPr>
              <a:t>Portfolio Optimization</a:t>
            </a:r>
            <a:r>
              <a:rPr lang="en-US" sz="1300" b="0" i="0" dirty="0">
                <a:effectLst/>
              </a:rPr>
              <a:t>: Identifying less-correlated assets allows for diversification, reducing exposure to single-asset volatility.</a:t>
            </a:r>
          </a:p>
          <a:p>
            <a:pPr indent="-228600">
              <a:lnSpc>
                <a:spcPct val="90000"/>
              </a:lnSpc>
              <a:spcAft>
                <a:spcPts val="600"/>
              </a:spcAft>
              <a:buFont typeface="Arial" panose="020B0604020202020204" pitchFamily="34" charset="0"/>
              <a:buChar char="•"/>
            </a:pPr>
            <a:r>
              <a:rPr lang="en-US" sz="1300" b="1" i="0" dirty="0">
                <a:effectLst/>
              </a:rPr>
              <a:t>Market Sentiment Analysis</a:t>
            </a:r>
            <a:r>
              <a:rPr lang="en-US" sz="1300" b="0" i="0" dirty="0">
                <a:effectLst/>
              </a:rPr>
              <a:t>: Bitcoin dominance (BTC’s market share relative to altcoins) serves as a key indicator of whether investors favor Bitcoin over altcoins in different market conditions.</a:t>
            </a:r>
          </a:p>
          <a:p>
            <a:pPr indent="-228600">
              <a:lnSpc>
                <a:spcPct val="90000"/>
              </a:lnSpc>
              <a:spcAft>
                <a:spcPts val="600"/>
              </a:spcAft>
              <a:buFont typeface="Arial" panose="020B0604020202020204" pitchFamily="34" charset="0"/>
              <a:buChar char="•"/>
            </a:pPr>
            <a:r>
              <a:rPr lang="en-US" sz="1300" b="1" i="0" dirty="0">
                <a:effectLst/>
              </a:rPr>
              <a:t>Strategic Trading Decisions</a:t>
            </a:r>
            <a:r>
              <a:rPr lang="en-US" sz="1300" b="0" i="0" dirty="0">
                <a:effectLst/>
              </a:rPr>
              <a:t>: High-correlation altcoins can be used for arbitrage strategies, while low-correlation ones can act as alternative investments in volatile periods.</a:t>
            </a: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flowchart&#10;&#10;AI-generated content may be incorrect.">
            <a:extLst>
              <a:ext uri="{FF2B5EF4-FFF2-40B4-BE49-F238E27FC236}">
                <a16:creationId xmlns:a16="http://schemas.microsoft.com/office/drawing/2014/main" id="{3820F7C7-55C7-DB67-0229-2C0E186376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7738" y="1553810"/>
            <a:ext cx="5628018" cy="3517510"/>
          </a:xfrm>
          <a:prstGeom prst="rect">
            <a:avLst/>
          </a:prstGeom>
        </p:spPr>
      </p:pic>
    </p:spTree>
    <p:extLst>
      <p:ext uri="{BB962C8B-B14F-4D97-AF65-F5344CB8AC3E}">
        <p14:creationId xmlns:p14="http://schemas.microsoft.com/office/powerpoint/2010/main" val="1013498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1E9C1D-3064-B289-52D5-B0A3D8D683C6}"/>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artoon of two people talking&#10;&#10;AI-generated content may be incorrect.">
            <a:extLst>
              <a:ext uri="{FF2B5EF4-FFF2-40B4-BE49-F238E27FC236}">
                <a16:creationId xmlns:a16="http://schemas.microsoft.com/office/drawing/2014/main" id="{189B8B63-BA29-F22E-72FD-DFF770662C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9941" y="650494"/>
            <a:ext cx="3500623" cy="5324142"/>
          </a:xfrm>
          <a:prstGeom prst="rect">
            <a:avLst/>
          </a:prstGeom>
        </p:spPr>
      </p:pic>
      <p:sp>
        <p:nvSpPr>
          <p:cNvPr id="25" name="Rectangle 2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9C64368-7013-057E-A8D1-7E7A43742D31}"/>
              </a:ext>
            </a:extLst>
          </p:cNvPr>
          <p:cNvSpPr txBox="1"/>
          <p:nvPr/>
        </p:nvSpPr>
        <p:spPr>
          <a:xfrm>
            <a:off x="7239012"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b="1" i="0">
                <a:effectLst/>
              </a:rPr>
              <a:t>Research Question</a:t>
            </a:r>
          </a:p>
          <a:p>
            <a:pPr indent="-228600">
              <a:lnSpc>
                <a:spcPct val="90000"/>
              </a:lnSpc>
              <a:spcAft>
                <a:spcPts val="600"/>
              </a:spcAft>
              <a:buFont typeface="Arial" panose="020B0604020202020204" pitchFamily="34" charset="0"/>
              <a:buChar char="•"/>
            </a:pPr>
            <a:r>
              <a:rPr lang="en-US" b="0" i="0">
                <a:effectLst/>
              </a:rPr>
              <a:t>This project seeks to answer the question: </a:t>
            </a:r>
            <a:r>
              <a:rPr lang="en-US" b="1" i="0">
                <a:effectLst/>
              </a:rPr>
              <a:t>"How do altcoin price movements correlate with Bitcoin’s price movements and dominance in the cryptocurrency market?"</a:t>
            </a:r>
            <a:r>
              <a:rPr lang="en-US" b="0" i="0">
                <a:effectLst/>
              </a:rPr>
              <a:t> By analyzing historical price data and computing correlation metrics, we aim to quantify these relationships and understand their implications for traders and investors.</a:t>
            </a:r>
          </a:p>
        </p:txBody>
      </p:sp>
      <p:sp>
        <p:nvSpPr>
          <p:cNvPr id="26" name="Rectangle 2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3608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35EA4D-7B32-D6A6-3EBF-6AFA39F2204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data collection process&#10;&#10;AI-generated content may be incorrect.">
            <a:extLst>
              <a:ext uri="{FF2B5EF4-FFF2-40B4-BE49-F238E27FC236}">
                <a16:creationId xmlns:a16="http://schemas.microsoft.com/office/drawing/2014/main" id="{06AC778B-30FD-3A5B-EDD4-4B70B7B8E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244" y="1434214"/>
            <a:ext cx="5628018" cy="3756701"/>
          </a:xfrm>
          <a:prstGeom prst="rect">
            <a:avLst/>
          </a:prstGeom>
        </p:spPr>
      </p:pic>
      <p:sp>
        <p:nvSpPr>
          <p:cNvPr id="16" name="Rectangle 1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EB61A1E-8729-96EC-27C5-DD9D46D9768C}"/>
              </a:ext>
            </a:extLst>
          </p:cNvPr>
          <p:cNvSpPr txBox="1"/>
          <p:nvPr/>
        </p:nvSpPr>
        <p:spPr>
          <a:xfrm>
            <a:off x="6805440" y="3137537"/>
            <a:ext cx="4810315" cy="2472038"/>
          </a:xfrm>
          <a:prstGeom prst="rect">
            <a:avLst/>
          </a:prstGeom>
        </p:spPr>
        <p:txBody>
          <a:bodyPr vert="horz" lIns="91440" tIns="45720" rIns="91440" bIns="45720" rtlCol="0" anchor="ctr">
            <a:normAutofit fontScale="85000" lnSpcReduction="20000"/>
          </a:bodyPr>
          <a:lstStyle/>
          <a:p>
            <a:pPr indent="-228600">
              <a:lnSpc>
                <a:spcPct val="90000"/>
              </a:lnSpc>
              <a:spcAft>
                <a:spcPts val="600"/>
              </a:spcAft>
              <a:buFont typeface="Arial" panose="020B0604020202020204" pitchFamily="34" charset="0"/>
              <a:buChar char="•"/>
            </a:pPr>
            <a:r>
              <a:rPr lang="en-US" sz="1500" b="1" i="0" dirty="0">
                <a:effectLst/>
              </a:rPr>
              <a:t>Data Collection &amp; Description</a:t>
            </a:r>
          </a:p>
          <a:p>
            <a:pPr indent="-228600">
              <a:lnSpc>
                <a:spcPct val="90000"/>
              </a:lnSpc>
              <a:spcAft>
                <a:spcPts val="600"/>
              </a:spcAft>
              <a:buFont typeface="Arial" panose="020B0604020202020204" pitchFamily="34" charset="0"/>
              <a:buChar char="•"/>
            </a:pPr>
            <a:r>
              <a:rPr lang="en-US" sz="1500" b="1" i="0" dirty="0">
                <a:effectLst/>
              </a:rPr>
              <a:t>Source</a:t>
            </a:r>
            <a:r>
              <a:rPr lang="en-US" sz="1500" b="0" i="0" dirty="0">
                <a:effectLst/>
              </a:rPr>
              <a:t>: Fetching real-time and historical data from Binance public APIs.</a:t>
            </a:r>
          </a:p>
          <a:p>
            <a:pPr indent="-228600">
              <a:lnSpc>
                <a:spcPct val="90000"/>
              </a:lnSpc>
              <a:spcAft>
                <a:spcPts val="600"/>
              </a:spcAft>
              <a:buFont typeface="Arial" panose="020B0604020202020204" pitchFamily="34" charset="0"/>
              <a:buChar char="•"/>
            </a:pPr>
            <a:r>
              <a:rPr lang="en-US" sz="1500" b="1" i="0" dirty="0">
                <a:effectLst/>
              </a:rPr>
              <a:t>Scope</a:t>
            </a:r>
            <a:r>
              <a:rPr lang="en-US" sz="1500" b="0" i="0" dirty="0">
                <a:effectLst/>
              </a:rPr>
              <a:t>: </a:t>
            </a:r>
            <a:r>
              <a:rPr lang="en-US" sz="1500" dirty="0"/>
              <a:t>Several m</a:t>
            </a:r>
            <a:r>
              <a:rPr lang="en-US" sz="1500" b="0" i="0" dirty="0">
                <a:effectLst/>
              </a:rPr>
              <a:t>ajor altcoins (ETH, BNB, ADA, SOL etc.) over 4 years.</a:t>
            </a:r>
          </a:p>
          <a:p>
            <a:pPr indent="-228600">
              <a:lnSpc>
                <a:spcPct val="90000"/>
              </a:lnSpc>
              <a:spcAft>
                <a:spcPts val="600"/>
              </a:spcAft>
              <a:buFont typeface="Arial" panose="020B0604020202020204" pitchFamily="34" charset="0"/>
              <a:buChar char="•"/>
            </a:pPr>
            <a:r>
              <a:rPr lang="en-US" sz="1500" b="1" i="0" dirty="0">
                <a:effectLst/>
              </a:rPr>
              <a:t>Dataset Structure</a:t>
            </a:r>
            <a:r>
              <a:rPr lang="en-US" sz="1500" b="0" i="0" dirty="0">
                <a:effectLst/>
              </a:rPr>
              <a:t>:</a:t>
            </a:r>
          </a:p>
          <a:p>
            <a:pPr marL="742950" lvl="1" indent="-228600">
              <a:lnSpc>
                <a:spcPct val="90000"/>
              </a:lnSpc>
              <a:spcAft>
                <a:spcPts val="600"/>
              </a:spcAft>
              <a:buFont typeface="Arial" panose="020B0604020202020204" pitchFamily="34" charset="0"/>
              <a:buChar char="•"/>
            </a:pPr>
            <a:r>
              <a:rPr lang="en-US" sz="1500" b="1" i="0" dirty="0">
                <a:effectLst/>
              </a:rPr>
              <a:t>Timestamps</a:t>
            </a:r>
            <a:r>
              <a:rPr lang="en-US" sz="1500" b="0" i="0" dirty="0">
                <a:effectLst/>
              </a:rPr>
              <a:t> (15-minute intervals)</a:t>
            </a:r>
          </a:p>
          <a:p>
            <a:pPr marL="742950" lvl="1" indent="-228600">
              <a:lnSpc>
                <a:spcPct val="90000"/>
              </a:lnSpc>
              <a:spcAft>
                <a:spcPts val="600"/>
              </a:spcAft>
              <a:buFont typeface="Arial" panose="020B0604020202020204" pitchFamily="34" charset="0"/>
              <a:buChar char="•"/>
            </a:pPr>
            <a:r>
              <a:rPr lang="en-US" sz="1500" b="1" i="0" dirty="0">
                <a:effectLst/>
              </a:rPr>
              <a:t>OHLC</a:t>
            </a:r>
            <a:r>
              <a:rPr lang="en-US" sz="1500" b="0" i="0" dirty="0">
                <a:effectLst/>
              </a:rPr>
              <a:t> (Open, High, Low, Close)</a:t>
            </a:r>
          </a:p>
          <a:p>
            <a:pPr marL="742950" lvl="1" indent="-228600">
              <a:lnSpc>
                <a:spcPct val="90000"/>
              </a:lnSpc>
              <a:spcAft>
                <a:spcPts val="600"/>
              </a:spcAft>
              <a:buFont typeface="Arial" panose="020B0604020202020204" pitchFamily="34" charset="0"/>
              <a:buChar char="•"/>
            </a:pPr>
            <a:r>
              <a:rPr lang="en-US" sz="1500" b="1" i="0" dirty="0">
                <a:effectLst/>
              </a:rPr>
              <a:t>Volume</a:t>
            </a:r>
            <a:endParaRPr lang="en-US" sz="1500" b="0" i="0" dirty="0">
              <a:effectLst/>
            </a:endParaRPr>
          </a:p>
          <a:p>
            <a:pPr indent="-228600">
              <a:lnSpc>
                <a:spcPct val="90000"/>
              </a:lnSpc>
              <a:spcAft>
                <a:spcPts val="600"/>
              </a:spcAft>
              <a:buFont typeface="Arial" panose="020B0604020202020204" pitchFamily="34" charset="0"/>
              <a:buChar char="•"/>
            </a:pPr>
            <a:r>
              <a:rPr lang="en-US" sz="1500" b="1" i="0" dirty="0">
                <a:effectLst/>
              </a:rPr>
              <a:t>Storage</a:t>
            </a:r>
            <a:r>
              <a:rPr lang="en-US" sz="1500" b="0" i="0" dirty="0">
                <a:effectLst/>
              </a:rPr>
              <a:t>: PostgreSQL for efficient querying &amp; processing.</a:t>
            </a:r>
          </a:p>
          <a:p>
            <a:pPr>
              <a:lnSpc>
                <a:spcPct val="90000"/>
              </a:lnSpc>
              <a:spcAft>
                <a:spcPts val="600"/>
              </a:spcAft>
            </a:pPr>
            <a:br>
              <a:rPr lang="en-US" sz="1500" dirty="0"/>
            </a:br>
            <a:endParaRPr lang="en-US" sz="1500" dirty="0"/>
          </a:p>
        </p:txBody>
      </p:sp>
      <p:sp>
        <p:nvSpPr>
          <p:cNvPr id="18" name="Rectangle 1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 code&#10;&#10;Description automatically generated">
            <a:extLst>
              <a:ext uri="{FF2B5EF4-FFF2-40B4-BE49-F238E27FC236}">
                <a16:creationId xmlns:a16="http://schemas.microsoft.com/office/drawing/2014/main" id="{1C979DE5-C1C7-117C-17B5-D938369D387D}"/>
              </a:ext>
            </a:extLst>
          </p:cNvPr>
          <p:cNvPicPr>
            <a:picLocks noChangeAspect="1"/>
          </p:cNvPicPr>
          <p:nvPr/>
        </p:nvPicPr>
        <p:blipFill>
          <a:blip r:embed="rId3"/>
          <a:stretch>
            <a:fillRect/>
          </a:stretch>
        </p:blipFill>
        <p:spPr>
          <a:xfrm>
            <a:off x="6701542" y="354959"/>
            <a:ext cx="2249039" cy="2783920"/>
          </a:xfrm>
          <a:prstGeom prst="rect">
            <a:avLst/>
          </a:prstGeom>
        </p:spPr>
      </p:pic>
    </p:spTree>
    <p:extLst>
      <p:ext uri="{BB962C8B-B14F-4D97-AF65-F5344CB8AC3E}">
        <p14:creationId xmlns:p14="http://schemas.microsoft.com/office/powerpoint/2010/main" val="528129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4AD063-41B8-9437-6C98-CAAC09909F9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diagram&#10;&#10;AI-generated content may be incorrect.">
            <a:extLst>
              <a:ext uri="{FF2B5EF4-FFF2-40B4-BE49-F238E27FC236}">
                <a16:creationId xmlns:a16="http://schemas.microsoft.com/office/drawing/2014/main" id="{03606C4C-9D59-1B61-C1CD-48686C9AD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244" y="2074401"/>
            <a:ext cx="5628018" cy="2476327"/>
          </a:xfrm>
          <a:prstGeom prst="rect">
            <a:avLst/>
          </a:prstGeom>
        </p:spPr>
      </p:pic>
      <p:sp>
        <p:nvSpPr>
          <p:cNvPr id="16" name="Rectangle 1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ECB18E-69DF-235E-7C6B-FC62E4BCC8CC}"/>
              </a:ext>
            </a:extLst>
          </p:cNvPr>
          <p:cNvSpPr txBox="1"/>
          <p:nvPr/>
        </p:nvSpPr>
        <p:spPr>
          <a:xfrm>
            <a:off x="7239012" y="2031101"/>
            <a:ext cx="4282984" cy="3511943"/>
          </a:xfrm>
          <a:prstGeom prst="rect">
            <a:avLst/>
          </a:prstGeom>
        </p:spPr>
        <p:txBody>
          <a:bodyPr vert="horz" lIns="91440" tIns="45720" rIns="91440" bIns="45720" rtlCol="0" anchor="ctr">
            <a:normAutofit/>
          </a:bodyPr>
          <a:lstStyle/>
          <a:p>
            <a:pPr>
              <a:lnSpc>
                <a:spcPct val="90000"/>
              </a:lnSpc>
              <a:spcAft>
                <a:spcPts val="600"/>
              </a:spcAft>
            </a:pPr>
            <a:r>
              <a:rPr lang="en-US" sz="1300" b="1" i="0" dirty="0">
                <a:effectLst/>
              </a:rPr>
              <a:t>Tools</a:t>
            </a:r>
          </a:p>
          <a:p>
            <a:pPr indent="-228600">
              <a:lnSpc>
                <a:spcPct val="90000"/>
              </a:lnSpc>
              <a:spcAft>
                <a:spcPts val="600"/>
              </a:spcAft>
              <a:buFont typeface="Arial" panose="020B0604020202020204" pitchFamily="34" charset="0"/>
              <a:buChar char="•"/>
            </a:pPr>
            <a:r>
              <a:rPr lang="en-US" sz="1300" b="1" i="0" dirty="0">
                <a:effectLst/>
              </a:rPr>
              <a:t>Python</a:t>
            </a:r>
            <a:r>
              <a:rPr lang="en-US" sz="1300" b="0" i="0" dirty="0">
                <a:effectLst/>
              </a:rPr>
              <a:t> (Requests, Pandas, NumPy, SciPy)</a:t>
            </a:r>
          </a:p>
          <a:p>
            <a:pPr indent="-228600">
              <a:lnSpc>
                <a:spcPct val="90000"/>
              </a:lnSpc>
              <a:spcAft>
                <a:spcPts val="600"/>
              </a:spcAft>
              <a:buFont typeface="Arial" panose="020B0604020202020204" pitchFamily="34" charset="0"/>
              <a:buChar char="•"/>
            </a:pPr>
            <a:r>
              <a:rPr lang="en-US" sz="1300" b="1" i="0" dirty="0">
                <a:effectLst/>
              </a:rPr>
              <a:t>PostgreSQL</a:t>
            </a:r>
            <a:r>
              <a:rPr lang="en-US" sz="1300" b="0" i="0" dirty="0">
                <a:effectLst/>
              </a:rPr>
              <a:t> (for data storage)</a:t>
            </a:r>
          </a:p>
          <a:p>
            <a:pPr indent="-228600">
              <a:lnSpc>
                <a:spcPct val="90000"/>
              </a:lnSpc>
              <a:spcAft>
                <a:spcPts val="600"/>
              </a:spcAft>
              <a:buFont typeface="Arial" panose="020B0604020202020204" pitchFamily="34" charset="0"/>
              <a:buChar char="•"/>
            </a:pPr>
            <a:r>
              <a:rPr lang="en-US" sz="1300" b="1" i="0" dirty="0">
                <a:effectLst/>
              </a:rPr>
              <a:t>Matplotlib/Seaborn</a:t>
            </a:r>
            <a:r>
              <a:rPr lang="en-US" sz="1300" b="0" i="0" dirty="0">
                <a:effectLst/>
              </a:rPr>
              <a:t> (for visualization)</a:t>
            </a:r>
          </a:p>
          <a:p>
            <a:pPr indent="-228600">
              <a:lnSpc>
                <a:spcPct val="90000"/>
              </a:lnSpc>
              <a:spcAft>
                <a:spcPts val="600"/>
              </a:spcAft>
              <a:buFont typeface="Arial" panose="020B0604020202020204" pitchFamily="34" charset="0"/>
              <a:buChar char="•"/>
            </a:pPr>
            <a:r>
              <a:rPr lang="en-US" sz="1300" b="1" i="0" dirty="0" err="1">
                <a:effectLst/>
              </a:rPr>
              <a:t>Statsmodels</a:t>
            </a:r>
            <a:r>
              <a:rPr lang="en-US" sz="1300" b="1" i="0" dirty="0">
                <a:effectLst/>
              </a:rPr>
              <a:t> &amp; Scikit-learn</a:t>
            </a:r>
            <a:r>
              <a:rPr lang="en-US" sz="1300" b="0" i="0" dirty="0">
                <a:effectLst/>
              </a:rPr>
              <a:t> (for correlation analysis)</a:t>
            </a:r>
          </a:p>
          <a:p>
            <a:pPr>
              <a:lnSpc>
                <a:spcPct val="90000"/>
              </a:lnSpc>
              <a:spcAft>
                <a:spcPts val="600"/>
              </a:spcAft>
            </a:pPr>
            <a:r>
              <a:rPr lang="en-US" sz="1300" b="1" i="0" dirty="0">
                <a:effectLst/>
              </a:rPr>
              <a:t>Steps</a:t>
            </a:r>
          </a:p>
          <a:p>
            <a:pPr indent="-228600">
              <a:lnSpc>
                <a:spcPct val="90000"/>
              </a:lnSpc>
              <a:spcAft>
                <a:spcPts val="600"/>
              </a:spcAft>
              <a:buFont typeface="Arial" panose="020B0604020202020204" pitchFamily="34" charset="0"/>
              <a:buChar char="•"/>
            </a:pPr>
            <a:r>
              <a:rPr lang="en-US" sz="1300" b="0" i="0" dirty="0">
                <a:effectLst/>
              </a:rPr>
              <a:t>Fetch &amp; store data in PostgreSQL.</a:t>
            </a:r>
          </a:p>
          <a:p>
            <a:pPr indent="-228600">
              <a:lnSpc>
                <a:spcPct val="90000"/>
              </a:lnSpc>
              <a:spcAft>
                <a:spcPts val="600"/>
              </a:spcAft>
              <a:buFont typeface="Arial" panose="020B0604020202020204" pitchFamily="34" charset="0"/>
              <a:buChar char="•"/>
            </a:pPr>
            <a:r>
              <a:rPr lang="en-US" sz="1300" b="0" i="0" dirty="0">
                <a:effectLst/>
              </a:rPr>
              <a:t>Perform data cleaning if needed (handling </a:t>
            </a:r>
            <a:r>
              <a:rPr lang="en-US" sz="1300" b="0" i="0" dirty="0" err="1">
                <a:effectLst/>
              </a:rPr>
              <a:t>NaNs</a:t>
            </a:r>
            <a:r>
              <a:rPr lang="en-US" sz="1300" b="0" i="0" dirty="0">
                <a:effectLst/>
              </a:rPr>
              <a:t>, duplicates).</a:t>
            </a:r>
          </a:p>
          <a:p>
            <a:pPr indent="-228600">
              <a:lnSpc>
                <a:spcPct val="90000"/>
              </a:lnSpc>
              <a:spcAft>
                <a:spcPts val="600"/>
              </a:spcAft>
              <a:buFont typeface="Arial" panose="020B0604020202020204" pitchFamily="34" charset="0"/>
              <a:buChar char="•"/>
            </a:pPr>
            <a:r>
              <a:rPr lang="en-US" sz="1300" b="0" i="0" dirty="0">
                <a:effectLst/>
              </a:rPr>
              <a:t>Compute correlation coefficients between BTC and altcoins.</a:t>
            </a:r>
          </a:p>
          <a:p>
            <a:pPr indent="-228600">
              <a:lnSpc>
                <a:spcPct val="90000"/>
              </a:lnSpc>
              <a:spcAft>
                <a:spcPts val="600"/>
              </a:spcAft>
              <a:buFont typeface="Arial" panose="020B0604020202020204" pitchFamily="34" charset="0"/>
              <a:buChar char="•"/>
            </a:pPr>
            <a:r>
              <a:rPr lang="en-US" sz="1300" b="0" i="0" dirty="0">
                <a:effectLst/>
              </a:rPr>
              <a:t>Visualize trends and patterns.</a:t>
            </a:r>
          </a:p>
        </p:txBody>
      </p:sp>
      <p:sp>
        <p:nvSpPr>
          <p:cNvPr id="18" name="Rectangle 1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5992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2A17B6-4853-6558-2B02-A09810B9F44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standing on a staircase&#10;&#10;AI-generated content may be incorrect.">
            <a:extLst>
              <a:ext uri="{FF2B5EF4-FFF2-40B4-BE49-F238E27FC236}">
                <a16:creationId xmlns:a16="http://schemas.microsoft.com/office/drawing/2014/main" id="{A0F363F4-B31A-5BC6-3BAA-4FBF93701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066" y="650494"/>
            <a:ext cx="5364374" cy="5324142"/>
          </a:xfrm>
          <a:prstGeom prst="rect">
            <a:avLst/>
          </a:prstGeom>
        </p:spPr>
      </p:pic>
      <p:sp>
        <p:nvSpPr>
          <p:cNvPr id="16" name="Rectangle 1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7A79A06-F979-D1F4-9A4B-B8BE6C10CB2A}"/>
              </a:ext>
            </a:extLst>
          </p:cNvPr>
          <p:cNvSpPr txBox="1"/>
          <p:nvPr/>
        </p:nvSpPr>
        <p:spPr>
          <a:xfrm>
            <a:off x="7239012"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b="1" i="0">
                <a:effectLst/>
              </a:rPr>
              <a:t>Correlation Analysis Approach</a:t>
            </a:r>
          </a:p>
          <a:p>
            <a:pPr indent="-228600">
              <a:lnSpc>
                <a:spcPct val="90000"/>
              </a:lnSpc>
              <a:spcAft>
                <a:spcPts val="600"/>
              </a:spcAft>
              <a:buFont typeface="Arial" panose="020B0604020202020204" pitchFamily="34" charset="0"/>
              <a:buChar char="•"/>
            </a:pPr>
            <a:r>
              <a:rPr lang="en-US" b="1" i="0">
                <a:effectLst/>
              </a:rPr>
              <a:t>Statistical Approach</a:t>
            </a:r>
            <a:r>
              <a:rPr lang="en-US" b="0" i="0">
                <a:effectLst/>
              </a:rPr>
              <a:t>:</a:t>
            </a:r>
          </a:p>
          <a:p>
            <a:pPr marL="742950" lvl="1" indent="-228600">
              <a:lnSpc>
                <a:spcPct val="90000"/>
              </a:lnSpc>
              <a:spcAft>
                <a:spcPts val="600"/>
              </a:spcAft>
              <a:buFont typeface="Arial" panose="020B0604020202020204" pitchFamily="34" charset="0"/>
              <a:buChar char="•"/>
            </a:pPr>
            <a:r>
              <a:rPr lang="en-US" b="1" i="0">
                <a:effectLst/>
              </a:rPr>
              <a:t>Pearson Correlation</a:t>
            </a:r>
            <a:r>
              <a:rPr lang="en-US" b="0" i="0">
                <a:effectLst/>
              </a:rPr>
              <a:t>: Measures linear relationship (r-value).</a:t>
            </a:r>
          </a:p>
          <a:p>
            <a:pPr marL="742950" lvl="1" indent="-228600">
              <a:lnSpc>
                <a:spcPct val="90000"/>
              </a:lnSpc>
              <a:spcAft>
                <a:spcPts val="600"/>
              </a:spcAft>
              <a:buFont typeface="Arial" panose="020B0604020202020204" pitchFamily="34" charset="0"/>
              <a:buChar char="•"/>
            </a:pPr>
            <a:r>
              <a:rPr lang="en-US" b="1" i="0">
                <a:effectLst/>
              </a:rPr>
              <a:t>Spearman Rank Correlation</a:t>
            </a:r>
            <a:r>
              <a:rPr lang="en-US" b="0" i="0">
                <a:effectLst/>
              </a:rPr>
              <a:t>: Captures nonlinear trends.</a:t>
            </a:r>
          </a:p>
          <a:p>
            <a:pPr marL="742950" lvl="1" indent="-228600">
              <a:lnSpc>
                <a:spcPct val="90000"/>
              </a:lnSpc>
              <a:spcAft>
                <a:spcPts val="600"/>
              </a:spcAft>
              <a:buFont typeface="Arial" panose="020B0604020202020204" pitchFamily="34" charset="0"/>
              <a:buChar char="•"/>
            </a:pPr>
            <a:r>
              <a:rPr lang="en-US" b="1" i="0">
                <a:effectLst/>
              </a:rPr>
              <a:t>Rolling Window Correlation</a:t>
            </a:r>
            <a:r>
              <a:rPr lang="en-US" b="0" i="0">
                <a:effectLst/>
              </a:rPr>
              <a:t>: How correlation changes over time.</a:t>
            </a:r>
          </a:p>
        </p:txBody>
      </p:sp>
      <p:sp>
        <p:nvSpPr>
          <p:cNvPr id="18" name="Rectangle 1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6561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F5C13-934D-70F3-6158-15C416E679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03588E-EAC8-D61E-A297-FF2DD4064C19}"/>
              </a:ext>
            </a:extLst>
          </p:cNvPr>
          <p:cNvSpPr txBox="1"/>
          <p:nvPr/>
        </p:nvSpPr>
        <p:spPr>
          <a:xfrm>
            <a:off x="205967" y="163985"/>
            <a:ext cx="10576710" cy="1477328"/>
          </a:xfrm>
          <a:prstGeom prst="rect">
            <a:avLst/>
          </a:prstGeom>
          <a:noFill/>
        </p:spPr>
        <p:txBody>
          <a:bodyPr wrap="square">
            <a:spAutoFit/>
          </a:bodyPr>
          <a:lstStyle/>
          <a:p>
            <a:pPr algn="l"/>
            <a:r>
              <a:rPr lang="en-US" b="1" i="0">
                <a:solidFill>
                  <a:srgbClr val="1F2328"/>
                </a:solidFill>
                <a:effectLst/>
                <a:latin typeface="-apple-system"/>
              </a:rPr>
              <a:t>Planned Visualizations</a:t>
            </a:r>
          </a:p>
          <a:p>
            <a:pPr algn="l">
              <a:buFont typeface="Arial" panose="020B0604020202020204" pitchFamily="34" charset="0"/>
              <a:buChar char="•"/>
            </a:pPr>
            <a:r>
              <a:rPr lang="en-US" b="1" i="0">
                <a:solidFill>
                  <a:srgbClr val="1F2328"/>
                </a:solidFill>
                <a:effectLst/>
                <a:latin typeface="-apple-system"/>
              </a:rPr>
              <a:t>Correlation Heatmap</a:t>
            </a:r>
            <a:r>
              <a:rPr lang="en-US" b="0" i="0">
                <a:solidFill>
                  <a:srgbClr val="1F2328"/>
                </a:solidFill>
                <a:effectLst/>
                <a:latin typeface="-apple-system"/>
              </a:rPr>
              <a:t> (to compare multiple altcoins with BTC).</a:t>
            </a:r>
          </a:p>
          <a:p>
            <a:pPr algn="l">
              <a:buFont typeface="Arial" panose="020B0604020202020204" pitchFamily="34" charset="0"/>
              <a:buChar char="•"/>
            </a:pPr>
            <a:r>
              <a:rPr lang="en-US" b="1" i="0">
                <a:solidFill>
                  <a:srgbClr val="1F2328"/>
                </a:solidFill>
                <a:effectLst/>
                <a:latin typeface="-apple-system"/>
              </a:rPr>
              <a:t>Scatter Plots</a:t>
            </a:r>
            <a:r>
              <a:rPr lang="en-US" b="0" i="0">
                <a:solidFill>
                  <a:srgbClr val="1F2328"/>
                </a:solidFill>
                <a:effectLst/>
                <a:latin typeface="-apple-system"/>
              </a:rPr>
              <a:t> (visualizing BTC vs. individual altcoins).</a:t>
            </a:r>
          </a:p>
          <a:p>
            <a:pPr algn="l">
              <a:buFont typeface="Arial" panose="020B0604020202020204" pitchFamily="34" charset="0"/>
              <a:buChar char="•"/>
            </a:pPr>
            <a:r>
              <a:rPr lang="en-US" b="1" i="0">
                <a:solidFill>
                  <a:srgbClr val="1F2328"/>
                </a:solidFill>
                <a:effectLst/>
                <a:latin typeface="-apple-system"/>
              </a:rPr>
              <a:t>Rolling Correlation Line Graph</a:t>
            </a:r>
            <a:r>
              <a:rPr lang="en-US" b="0" i="0">
                <a:solidFill>
                  <a:srgbClr val="1F2328"/>
                </a:solidFill>
                <a:effectLst/>
                <a:latin typeface="-apple-system"/>
              </a:rPr>
              <a:t> (tracking correlation shifts over time).</a:t>
            </a:r>
          </a:p>
          <a:p>
            <a:pPr algn="l">
              <a:buFont typeface="Arial" panose="020B0604020202020204" pitchFamily="34" charset="0"/>
              <a:buChar char="•"/>
            </a:pPr>
            <a:r>
              <a:rPr lang="en-US" b="1" i="0">
                <a:solidFill>
                  <a:srgbClr val="1F2328"/>
                </a:solidFill>
                <a:effectLst/>
                <a:latin typeface="-apple-system"/>
              </a:rPr>
              <a:t>Histogram of Returns</a:t>
            </a:r>
            <a:r>
              <a:rPr lang="en-US" b="0" i="0">
                <a:solidFill>
                  <a:srgbClr val="1F2328"/>
                </a:solidFill>
                <a:effectLst/>
                <a:latin typeface="-apple-system"/>
              </a:rPr>
              <a:t> (to see distribution differences).</a:t>
            </a:r>
            <a:endParaRPr lang="en-US" b="0" i="0" dirty="0">
              <a:solidFill>
                <a:srgbClr val="1F2328"/>
              </a:solidFill>
              <a:effectLst/>
              <a:latin typeface="-apple-system"/>
            </a:endParaRPr>
          </a:p>
        </p:txBody>
      </p:sp>
      <p:pic>
        <p:nvPicPr>
          <p:cNvPr id="5" name="Picture 4" descr="A diagram of a diagram&#10;&#10;AI-generated content may be incorrect.">
            <a:extLst>
              <a:ext uri="{FF2B5EF4-FFF2-40B4-BE49-F238E27FC236}">
                <a16:creationId xmlns:a16="http://schemas.microsoft.com/office/drawing/2014/main" id="{F0635BEE-FC83-EA00-6B1D-B85182C12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9225" y="2447925"/>
            <a:ext cx="8953500" cy="3695700"/>
          </a:xfrm>
          <a:prstGeom prst="rect">
            <a:avLst/>
          </a:prstGeom>
        </p:spPr>
      </p:pic>
    </p:spTree>
    <p:extLst>
      <p:ext uri="{BB962C8B-B14F-4D97-AF65-F5344CB8AC3E}">
        <p14:creationId xmlns:p14="http://schemas.microsoft.com/office/powerpoint/2010/main" val="1299333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8E922-564A-434A-D1AB-E70C03FC36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1C1285-E495-798F-90BE-94CE4D7E4E0B}"/>
              </a:ext>
            </a:extLst>
          </p:cNvPr>
          <p:cNvSpPr txBox="1"/>
          <p:nvPr/>
        </p:nvSpPr>
        <p:spPr>
          <a:xfrm>
            <a:off x="494922" y="141878"/>
            <a:ext cx="11193101" cy="2031325"/>
          </a:xfrm>
          <a:prstGeom prst="rect">
            <a:avLst/>
          </a:prstGeom>
          <a:noFill/>
        </p:spPr>
        <p:txBody>
          <a:bodyPr wrap="square">
            <a:spAutoFit/>
          </a:bodyPr>
          <a:lstStyle/>
          <a:p>
            <a:pPr algn="l"/>
            <a:r>
              <a:rPr lang="en-US" b="1" i="0" dirty="0">
                <a:solidFill>
                  <a:srgbClr val="1F2328"/>
                </a:solidFill>
                <a:effectLst/>
                <a:latin typeface="-apple-system"/>
              </a:rPr>
              <a:t>Hypothesis</a:t>
            </a:r>
          </a:p>
          <a:p>
            <a:pPr algn="l">
              <a:buFont typeface="Arial" panose="020B0604020202020204" pitchFamily="34" charset="0"/>
              <a:buChar char="•"/>
            </a:pPr>
            <a:r>
              <a:rPr lang="en-US" b="0" i="0" dirty="0">
                <a:solidFill>
                  <a:srgbClr val="1F2328"/>
                </a:solidFill>
                <a:effectLst/>
                <a:latin typeface="-apple-system"/>
              </a:rPr>
              <a:t>Some altcoins (</a:t>
            </a:r>
            <a:r>
              <a:rPr lang="en-US" b="1" i="0" dirty="0">
                <a:solidFill>
                  <a:srgbClr val="1F2328"/>
                </a:solidFill>
                <a:effectLst/>
                <a:latin typeface="-apple-system"/>
              </a:rPr>
              <a:t>ETH, BNB</a:t>
            </a:r>
            <a:r>
              <a:rPr lang="en-US" b="0" i="0" dirty="0">
                <a:solidFill>
                  <a:srgbClr val="1F2328"/>
                </a:solidFill>
                <a:effectLst/>
                <a:latin typeface="-apple-system"/>
              </a:rPr>
              <a:t>) will be </a:t>
            </a:r>
            <a:r>
              <a:rPr lang="en-US" b="1" i="0" dirty="0">
                <a:solidFill>
                  <a:srgbClr val="1F2328"/>
                </a:solidFill>
                <a:effectLst/>
                <a:latin typeface="-apple-system"/>
              </a:rPr>
              <a:t>highly correlated</a:t>
            </a:r>
            <a:r>
              <a:rPr lang="en-US" b="0" i="0" dirty="0">
                <a:solidFill>
                  <a:srgbClr val="1F2328"/>
                </a:solidFill>
                <a:effectLst/>
                <a:latin typeface="-apple-system"/>
              </a:rPr>
              <a:t> with BTC.</a:t>
            </a:r>
          </a:p>
          <a:p>
            <a:pPr algn="l">
              <a:buFont typeface="Arial" panose="020B0604020202020204" pitchFamily="34" charset="0"/>
              <a:buChar char="•"/>
            </a:pPr>
            <a:r>
              <a:rPr lang="en-US" b="0" i="0" dirty="0">
                <a:solidFill>
                  <a:srgbClr val="1F2328"/>
                </a:solidFill>
                <a:effectLst/>
                <a:latin typeface="-apple-system"/>
              </a:rPr>
              <a:t>Others (</a:t>
            </a:r>
            <a:r>
              <a:rPr lang="en-US" b="1" i="0" dirty="0">
                <a:solidFill>
                  <a:srgbClr val="1F2328"/>
                </a:solidFill>
                <a:effectLst/>
                <a:latin typeface="-apple-system"/>
              </a:rPr>
              <a:t>ADA, SOL</a:t>
            </a:r>
            <a:r>
              <a:rPr lang="en-US" b="0" i="0" dirty="0">
                <a:solidFill>
                  <a:srgbClr val="1F2328"/>
                </a:solidFill>
                <a:effectLst/>
                <a:latin typeface="-apple-system"/>
              </a:rPr>
              <a:t>) might be </a:t>
            </a:r>
            <a:r>
              <a:rPr lang="en-US" b="1" i="0" dirty="0">
                <a:solidFill>
                  <a:srgbClr val="1F2328"/>
                </a:solidFill>
                <a:effectLst/>
                <a:latin typeface="-apple-system"/>
              </a:rPr>
              <a:t>less correlated</a:t>
            </a:r>
            <a:r>
              <a:rPr lang="en-US" b="0" i="0" dirty="0">
                <a:solidFill>
                  <a:srgbClr val="1F2328"/>
                </a:solidFill>
                <a:effectLst/>
                <a:latin typeface="-apple-system"/>
              </a:rPr>
              <a:t> due to independent market drivers.</a:t>
            </a:r>
          </a:p>
          <a:p>
            <a:pPr algn="l">
              <a:buFont typeface="Arial" panose="020B0604020202020204" pitchFamily="34" charset="0"/>
              <a:buChar char="•"/>
            </a:pPr>
            <a:r>
              <a:rPr lang="en-US" b="1" i="0" dirty="0">
                <a:solidFill>
                  <a:srgbClr val="1F2328"/>
                </a:solidFill>
                <a:effectLst/>
                <a:latin typeface="-apple-system"/>
              </a:rPr>
              <a:t>Use Case</a:t>
            </a:r>
            <a:r>
              <a:rPr lang="en-US" b="0" i="0" dirty="0">
                <a:solidFill>
                  <a:srgbClr val="1F2328"/>
                </a:solidFill>
                <a:effectLst/>
                <a:latin typeface="-apple-system"/>
              </a:rPr>
              <a:t>: Traders can use these correlations for </a:t>
            </a:r>
            <a:r>
              <a:rPr lang="en-US" b="1" i="0" dirty="0">
                <a:solidFill>
                  <a:srgbClr val="1F2328"/>
                </a:solidFill>
                <a:effectLst/>
                <a:latin typeface="-apple-system"/>
              </a:rPr>
              <a:t>hedging strategies</a:t>
            </a:r>
            <a:r>
              <a:rPr lang="en-US" b="0" i="0" dirty="0">
                <a:solidFill>
                  <a:srgbClr val="1F2328"/>
                </a:solidFill>
                <a:effectLst/>
                <a:latin typeface="-apple-system"/>
              </a:rPr>
              <a:t> and </a:t>
            </a:r>
            <a:r>
              <a:rPr lang="en-US" b="1" i="0" dirty="0">
                <a:solidFill>
                  <a:srgbClr val="1F2328"/>
                </a:solidFill>
                <a:effectLst/>
                <a:latin typeface="-apple-system"/>
              </a:rPr>
              <a:t>diversification</a:t>
            </a:r>
            <a:r>
              <a:rPr lang="en-US" b="0" i="0" dirty="0">
                <a:solidFill>
                  <a:srgbClr val="1F2328"/>
                </a:solidFill>
                <a:effectLst/>
                <a:latin typeface="-apple-system"/>
              </a:rPr>
              <a:t>.</a:t>
            </a:r>
          </a:p>
          <a:p>
            <a:pPr algn="l">
              <a:buFont typeface="Arial" panose="020B0604020202020204" pitchFamily="34" charset="0"/>
              <a:buChar char="•"/>
            </a:pPr>
            <a:r>
              <a:rPr lang="en-US" b="1" i="0" dirty="0">
                <a:solidFill>
                  <a:srgbClr val="1F2328"/>
                </a:solidFill>
                <a:effectLst/>
                <a:latin typeface="-apple-system"/>
              </a:rPr>
              <a:t>Limitations</a:t>
            </a:r>
            <a:r>
              <a:rPr lang="en-US" b="0" i="0" dirty="0">
                <a:solidFill>
                  <a:srgbClr val="1F2328"/>
                </a:solidFill>
                <a:effectLst/>
                <a:latin typeface="-apple-system"/>
              </a:rPr>
              <a:t>:</a:t>
            </a:r>
          </a:p>
          <a:p>
            <a:pPr marL="742950" lvl="1" indent="-285750" algn="l">
              <a:buFont typeface="Arial" panose="020B0604020202020204" pitchFamily="34" charset="0"/>
              <a:buChar char="•"/>
            </a:pPr>
            <a:r>
              <a:rPr lang="en-US" b="0" i="0" dirty="0">
                <a:solidFill>
                  <a:srgbClr val="1F2328"/>
                </a:solidFill>
                <a:effectLst/>
                <a:latin typeface="-apple-system"/>
              </a:rPr>
              <a:t>Market sentiment &amp; news events influence prices unpredictably.</a:t>
            </a:r>
          </a:p>
          <a:p>
            <a:pPr marL="742950" lvl="1" indent="-285750" algn="l">
              <a:buFont typeface="Arial" panose="020B0604020202020204" pitchFamily="34" charset="0"/>
              <a:buChar char="•"/>
            </a:pPr>
            <a:r>
              <a:rPr lang="en-US" b="0" i="0" dirty="0">
                <a:solidFill>
                  <a:srgbClr val="1F2328"/>
                </a:solidFill>
                <a:effectLst/>
                <a:latin typeface="-apple-system"/>
              </a:rPr>
              <a:t>External factors like regulations impact correlations.</a:t>
            </a:r>
          </a:p>
        </p:txBody>
      </p:sp>
    </p:spTree>
    <p:extLst>
      <p:ext uri="{BB962C8B-B14F-4D97-AF65-F5344CB8AC3E}">
        <p14:creationId xmlns:p14="http://schemas.microsoft.com/office/powerpoint/2010/main" val="3588425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3738C-921C-FE98-3BED-C1461AD648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BC3A09-892E-008C-49A3-732C0E099E5E}"/>
              </a:ext>
            </a:extLst>
          </p:cNvPr>
          <p:cNvSpPr txBox="1"/>
          <p:nvPr/>
        </p:nvSpPr>
        <p:spPr>
          <a:xfrm>
            <a:off x="499449" y="201145"/>
            <a:ext cx="11193101" cy="5632311"/>
          </a:xfrm>
          <a:prstGeom prst="rect">
            <a:avLst/>
          </a:prstGeom>
          <a:noFill/>
        </p:spPr>
        <p:txBody>
          <a:bodyPr wrap="square">
            <a:spAutoFit/>
          </a:bodyPr>
          <a:lstStyle/>
          <a:p>
            <a:r>
              <a:rPr lang="en-US" b="1" dirty="0"/>
              <a:t>K-Means Clustering: Group altcoins based on their correlation with BTC.</a:t>
            </a:r>
          </a:p>
          <a:p>
            <a:endParaRPr lang="en-US" dirty="0"/>
          </a:p>
          <a:p>
            <a:r>
              <a:rPr lang="en-US" b="1" dirty="0"/>
              <a:t>Goal:</a:t>
            </a:r>
            <a:endParaRPr lang="en-US" dirty="0"/>
          </a:p>
          <a:p>
            <a:r>
              <a:rPr lang="en-US" dirty="0"/>
              <a:t>• Group altcoins based on their historical correlation with Bitcoin (BTC).</a:t>
            </a:r>
          </a:p>
          <a:p>
            <a:r>
              <a:rPr lang="en-US" dirty="0"/>
              <a:t>• Identify clusters of cryptos that behave similarly to BTC.</a:t>
            </a:r>
          </a:p>
          <a:p>
            <a:endParaRPr lang="en-US" dirty="0"/>
          </a:p>
          <a:p>
            <a:r>
              <a:rPr lang="en-US" b="1" dirty="0"/>
              <a:t>Methodology:</a:t>
            </a:r>
            <a:endParaRPr lang="en-US" dirty="0"/>
          </a:p>
          <a:p>
            <a:r>
              <a:rPr lang="en-US" dirty="0"/>
              <a:t>• Standardize the correlation values for clustering.</a:t>
            </a:r>
          </a:p>
          <a:p>
            <a:r>
              <a:rPr lang="en-US" dirty="0"/>
              <a:t>• Apply </a:t>
            </a:r>
            <a:r>
              <a:rPr lang="en-US" b="1" dirty="0"/>
              <a:t>K-Means Clustering</a:t>
            </a:r>
            <a:r>
              <a:rPr lang="en-US" dirty="0"/>
              <a:t> with an optimal </a:t>
            </a:r>
            <a:r>
              <a:rPr lang="en-US" b="1" dirty="0"/>
              <a:t>K value (number of clusters)</a:t>
            </a:r>
            <a:r>
              <a:rPr lang="en-US" dirty="0"/>
              <a:t>.</a:t>
            </a:r>
          </a:p>
          <a:p>
            <a:r>
              <a:rPr lang="en-US" dirty="0"/>
              <a:t>• Assign each altcoin to a cluster based on similarity in correlation patterns.</a:t>
            </a:r>
          </a:p>
          <a:p>
            <a:endParaRPr lang="en-US" dirty="0"/>
          </a:p>
          <a:p>
            <a:r>
              <a:rPr lang="en-US" b="1" dirty="0"/>
              <a:t>Expected Outcome:</a:t>
            </a:r>
            <a:endParaRPr lang="en-US" dirty="0"/>
          </a:p>
          <a:p>
            <a:r>
              <a:rPr lang="en-US" dirty="0"/>
              <a:t>• Cryptos grouped into </a:t>
            </a:r>
            <a:r>
              <a:rPr lang="en-US" b="1" dirty="0"/>
              <a:t>highly correlated</a:t>
            </a:r>
            <a:r>
              <a:rPr lang="en-US" dirty="0"/>
              <a:t>, </a:t>
            </a:r>
            <a:r>
              <a:rPr lang="en-US" b="1" dirty="0"/>
              <a:t>moderately correlated</a:t>
            </a:r>
            <a:r>
              <a:rPr lang="en-US" dirty="0"/>
              <a:t>, and </a:t>
            </a:r>
            <a:r>
              <a:rPr lang="en-US" b="1" dirty="0"/>
              <a:t>independent movers</a:t>
            </a:r>
            <a:r>
              <a:rPr lang="en-US" dirty="0"/>
              <a:t>.</a:t>
            </a:r>
          </a:p>
          <a:p>
            <a:r>
              <a:rPr lang="en-US" dirty="0"/>
              <a:t>• Insights on which altcoins react similarly to BTC price movements.</a:t>
            </a:r>
          </a:p>
          <a:p>
            <a:endParaRPr lang="en-US" dirty="0"/>
          </a:p>
          <a:p>
            <a:r>
              <a:rPr lang="en-US" b="1" dirty="0"/>
              <a:t>Key Takeaways:</a:t>
            </a:r>
            <a:endParaRPr lang="en-US" dirty="0"/>
          </a:p>
          <a:p>
            <a:r>
              <a:rPr lang="en-US" dirty="0"/>
              <a:t>• Helps traders </a:t>
            </a:r>
            <a:r>
              <a:rPr lang="en-US" b="1" dirty="0"/>
              <a:t>diversify portfolios</a:t>
            </a:r>
            <a:r>
              <a:rPr lang="en-US" dirty="0"/>
              <a:t> by selecting cryptos from different clusters according to the trend of crypto trend. (Take less risk when bearish and more risk when bullish)</a:t>
            </a:r>
          </a:p>
          <a:p>
            <a:endParaRPr lang="en-US" dirty="0"/>
          </a:p>
          <a:p>
            <a:pPr algn="l"/>
            <a:endParaRPr lang="en-US" b="0" i="0" dirty="0">
              <a:solidFill>
                <a:srgbClr val="1F2328"/>
              </a:solidFill>
              <a:effectLst/>
              <a:latin typeface="-apple-system"/>
            </a:endParaRPr>
          </a:p>
        </p:txBody>
      </p:sp>
    </p:spTree>
    <p:extLst>
      <p:ext uri="{BB962C8B-B14F-4D97-AF65-F5344CB8AC3E}">
        <p14:creationId xmlns:p14="http://schemas.microsoft.com/office/powerpoint/2010/main" val="3264129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21239-1468-2A72-D036-DA07E5686A07}"/>
            </a:ext>
          </a:extLst>
        </p:cNvPr>
        <p:cNvGrpSpPr/>
        <p:nvPr/>
      </p:nvGrpSpPr>
      <p:grpSpPr>
        <a:xfrm>
          <a:off x="0" y="0"/>
          <a:ext cx="0" cy="0"/>
          <a:chOff x="0" y="0"/>
          <a:chExt cx="0" cy="0"/>
        </a:xfrm>
      </p:grpSpPr>
      <p:pic>
        <p:nvPicPr>
          <p:cNvPr id="3" name="Picture 2" descr="A diagram of a project timeline&#10;&#10;AI-generated content may be incorrect.">
            <a:extLst>
              <a:ext uri="{FF2B5EF4-FFF2-40B4-BE49-F238E27FC236}">
                <a16:creationId xmlns:a16="http://schemas.microsoft.com/office/drawing/2014/main" id="{735BAB5A-2F99-600C-4FBA-70EA48A683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75" y="619125"/>
            <a:ext cx="10306050" cy="5619750"/>
          </a:xfrm>
          <a:prstGeom prst="rect">
            <a:avLst/>
          </a:prstGeom>
        </p:spPr>
      </p:pic>
      <p:sp>
        <p:nvSpPr>
          <p:cNvPr id="6" name="TextBox 5">
            <a:extLst>
              <a:ext uri="{FF2B5EF4-FFF2-40B4-BE49-F238E27FC236}">
                <a16:creationId xmlns:a16="http://schemas.microsoft.com/office/drawing/2014/main" id="{22279D81-A230-71D9-61B8-D8A65E8C7DB6}"/>
              </a:ext>
            </a:extLst>
          </p:cNvPr>
          <p:cNvSpPr txBox="1"/>
          <p:nvPr/>
        </p:nvSpPr>
        <p:spPr>
          <a:xfrm>
            <a:off x="942975" y="6238875"/>
            <a:ext cx="9229725" cy="369332"/>
          </a:xfrm>
          <a:prstGeom prst="rect">
            <a:avLst/>
          </a:prstGeom>
          <a:noFill/>
        </p:spPr>
        <p:txBody>
          <a:bodyPr wrap="square" rtlCol="0">
            <a:spAutoFit/>
          </a:bodyPr>
          <a:lstStyle/>
          <a:p>
            <a:r>
              <a:rPr lang="en-US" dirty="0"/>
              <a:t>Where do you want to add if time permits planning to incorporate Machine learning?</a:t>
            </a:r>
          </a:p>
        </p:txBody>
      </p:sp>
    </p:spTree>
    <p:extLst>
      <p:ext uri="{BB962C8B-B14F-4D97-AF65-F5344CB8AC3E}">
        <p14:creationId xmlns:p14="http://schemas.microsoft.com/office/powerpoint/2010/main" val="187915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71FB1-511A-6F07-4187-B72345442A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42B51C-CC21-0DC5-55A4-7C55D257F73E}"/>
              </a:ext>
            </a:extLst>
          </p:cNvPr>
          <p:cNvSpPr txBox="1"/>
          <p:nvPr/>
        </p:nvSpPr>
        <p:spPr>
          <a:xfrm>
            <a:off x="1095470" y="709115"/>
            <a:ext cx="9813956" cy="4247317"/>
          </a:xfrm>
          <a:prstGeom prst="rect">
            <a:avLst/>
          </a:prstGeom>
          <a:noFill/>
        </p:spPr>
        <p:txBody>
          <a:bodyPr wrap="square">
            <a:spAutoFit/>
          </a:bodyPr>
          <a:lstStyle/>
          <a:p>
            <a:r>
              <a:rPr lang="en-US" b="1" dirty="0">
                <a:latin typeface="Amasis MT Pro Light" panose="02040304050005020304" pitchFamily="18" charset="0"/>
              </a:rPr>
              <a:t>Thank You! </a:t>
            </a:r>
          </a:p>
          <a:p>
            <a:endParaRPr lang="en-US" b="1" dirty="0">
              <a:latin typeface="Amasis MT Pro Light" panose="02040304050005020304" pitchFamily="18" charset="0"/>
            </a:endParaRPr>
          </a:p>
          <a:p>
            <a:r>
              <a:rPr lang="en-US" dirty="0">
                <a:latin typeface="Amasis MT Pro Light" panose="02040304050005020304" pitchFamily="18" charset="0"/>
              </a:rPr>
              <a:t>🔹 </a:t>
            </a:r>
            <a:r>
              <a:rPr lang="en-US" b="1" dirty="0">
                <a:latin typeface="Amasis MT Pro Light" panose="02040304050005020304" pitchFamily="18" charset="0"/>
              </a:rPr>
              <a:t>We appreciate your time and attention!</a:t>
            </a:r>
            <a:br>
              <a:rPr lang="en-US" dirty="0">
                <a:latin typeface="Amasis MT Pro Light" panose="02040304050005020304" pitchFamily="18" charset="0"/>
              </a:rPr>
            </a:br>
            <a:r>
              <a:rPr lang="en-US" dirty="0">
                <a:latin typeface="Amasis MT Pro Light" panose="02040304050005020304" pitchFamily="18" charset="0"/>
              </a:rPr>
              <a:t>🔹 This project aims to provide valuable insights into </a:t>
            </a:r>
            <a:r>
              <a:rPr lang="en-US" b="1" dirty="0">
                <a:latin typeface="Amasis MT Pro Light" panose="02040304050005020304" pitchFamily="18" charset="0"/>
              </a:rPr>
              <a:t>Bitcoin’s influence on altcoin markets</a:t>
            </a:r>
            <a:r>
              <a:rPr lang="en-US" dirty="0">
                <a:latin typeface="Amasis MT Pro Light" panose="02040304050005020304" pitchFamily="18" charset="0"/>
              </a:rPr>
              <a:t> through data-driven analysis.</a:t>
            </a:r>
            <a:br>
              <a:rPr lang="en-US" dirty="0">
                <a:latin typeface="Amasis MT Pro Light" panose="02040304050005020304" pitchFamily="18" charset="0"/>
              </a:rPr>
            </a:br>
            <a:r>
              <a:rPr lang="en-US" dirty="0">
                <a:latin typeface="Amasis MT Pro Light" panose="02040304050005020304" pitchFamily="18" charset="0"/>
              </a:rPr>
              <a:t>🔹 We hope our findings help traders, investors, and researchers make </a:t>
            </a:r>
            <a:r>
              <a:rPr lang="en-US" b="1" dirty="0">
                <a:latin typeface="Amasis MT Pro Light" panose="02040304050005020304" pitchFamily="18" charset="0"/>
              </a:rPr>
              <a:t>informed decisions</a:t>
            </a:r>
            <a:r>
              <a:rPr lang="en-US" dirty="0">
                <a:latin typeface="Amasis MT Pro Light" panose="02040304050005020304" pitchFamily="18" charset="0"/>
              </a:rPr>
              <a:t> in the volatile crypto market.</a:t>
            </a:r>
          </a:p>
          <a:p>
            <a:endParaRPr lang="en-US" dirty="0">
              <a:latin typeface="Amasis MT Pro Light" panose="02040304050005020304" pitchFamily="18" charset="0"/>
            </a:endParaRPr>
          </a:p>
          <a:p>
            <a:r>
              <a:rPr lang="en-US" dirty="0">
                <a:latin typeface="Amasis MT Pro Light" panose="02040304050005020304" pitchFamily="18" charset="0"/>
              </a:rPr>
              <a:t>💡 </a:t>
            </a:r>
            <a:r>
              <a:rPr lang="en-US" b="1" dirty="0">
                <a:latin typeface="Amasis MT Pro Light" panose="02040304050005020304" pitchFamily="18" charset="0"/>
              </a:rPr>
              <a:t>Questions? Let’s discuss!</a:t>
            </a:r>
          </a:p>
          <a:p>
            <a:endParaRPr lang="en-US" dirty="0">
              <a:latin typeface="Amasis MT Pro Light" panose="02040304050005020304" pitchFamily="18" charset="0"/>
            </a:endParaRPr>
          </a:p>
          <a:p>
            <a:r>
              <a:rPr lang="en-US" dirty="0">
                <a:latin typeface="Amasis MT Pro Light" panose="02040304050005020304" pitchFamily="18" charset="0"/>
              </a:rPr>
              <a:t>📧 </a:t>
            </a:r>
            <a:r>
              <a:rPr lang="en-US" b="1" dirty="0">
                <a:latin typeface="Amasis MT Pro Light" panose="02040304050005020304" pitchFamily="18" charset="0"/>
              </a:rPr>
              <a:t>Contact:</a:t>
            </a:r>
            <a:r>
              <a:rPr lang="en-US" dirty="0">
                <a:latin typeface="Amasis MT Pro Light" panose="02040304050005020304" pitchFamily="18" charset="0"/>
              </a:rPr>
              <a:t> </a:t>
            </a:r>
            <a:r>
              <a:rPr lang="en-US" sz="1800" dirty="0">
                <a:latin typeface="Amasis MT Pro Light" panose="02040304050005020304" pitchFamily="18" charset="0"/>
              </a:rPr>
              <a:t>Ayberk Cansever &amp; Anita Bhandari</a:t>
            </a:r>
            <a:endParaRPr lang="en-US" dirty="0">
              <a:latin typeface="Amasis MT Pro Light" panose="02040304050005020304" pitchFamily="18" charset="0"/>
            </a:endParaRPr>
          </a:p>
          <a:p>
            <a:endParaRPr lang="en-US" dirty="0">
              <a:latin typeface="Amasis MT Pro Light" panose="02040304050005020304" pitchFamily="18" charset="0"/>
            </a:endParaRPr>
          </a:p>
          <a:p>
            <a:r>
              <a:rPr lang="en-US" dirty="0">
                <a:latin typeface="Amasis MT Pro Light" panose="02040304050005020304" pitchFamily="18" charset="0"/>
              </a:rPr>
              <a:t> </a:t>
            </a:r>
            <a:r>
              <a:rPr lang="en-US" dirty="0"/>
              <a:t>💰 </a:t>
            </a:r>
            <a:r>
              <a:rPr lang="en-US" b="1" dirty="0">
                <a:latin typeface="Amasis MT Pro Light" panose="02040304050005020304" pitchFamily="18" charset="0"/>
              </a:rPr>
              <a:t>Happy Trading &amp; Data Exploring! </a:t>
            </a:r>
            <a:r>
              <a:rPr lang="en-US" dirty="0"/>
              <a:t>₿📈</a:t>
            </a:r>
            <a:endParaRPr lang="en-US" dirty="0">
              <a:latin typeface="Amasis MT Pro Light" panose="02040304050005020304" pitchFamily="18" charset="0"/>
            </a:endParaRPr>
          </a:p>
          <a:p>
            <a:endParaRPr lang="en-US" dirty="0">
              <a:latin typeface="Amasis MT Pro Light" panose="02040304050005020304" pitchFamily="18" charset="0"/>
            </a:endParaRPr>
          </a:p>
          <a:p>
            <a:endParaRPr lang="en-US" dirty="0">
              <a:latin typeface="Amasis MT Pro Light" panose="02040304050005020304" pitchFamily="18" charset="0"/>
            </a:endParaRPr>
          </a:p>
        </p:txBody>
      </p:sp>
    </p:spTree>
    <p:extLst>
      <p:ext uri="{BB962C8B-B14F-4D97-AF65-F5344CB8AC3E}">
        <p14:creationId xmlns:p14="http://schemas.microsoft.com/office/powerpoint/2010/main" val="1502419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878</Words>
  <Application>Microsoft Macintosh PowerPoint</Application>
  <PresentationFormat>Widescreen</PresentationFormat>
  <Paragraphs>80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-apple-system</vt:lpstr>
      <vt:lpstr>Amasis MT Pro Black</vt:lpstr>
      <vt:lpstr>Amasis MT Pro Light</vt:lpstr>
      <vt:lpstr>Amasis MT Pro Medium</vt:lpstr>
      <vt:lpstr>Aptos</vt:lpstr>
      <vt:lpstr>Aptos Display</vt:lpstr>
      <vt:lpstr>Arial</vt:lpstr>
      <vt:lpstr>Office Theme</vt:lpstr>
      <vt:lpstr>PowerPoint Presentation</vt:lpstr>
      <vt:lpstr>Crypto AnAyltics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Bhandari, Anita</dc:creator>
  <cp:lastModifiedBy>Ayberk Cansever</cp:lastModifiedBy>
  <cp:revision>36</cp:revision>
  <dcterms:created xsi:type="dcterms:W3CDTF">2025-02-27T15:51:46Z</dcterms:created>
  <dcterms:modified xsi:type="dcterms:W3CDTF">2025-02-27T20:28:03Z</dcterms:modified>
</cp:coreProperties>
</file>